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5699" y="1363726"/>
            <a:ext cx="8622029" cy="842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7824" y="2301620"/>
            <a:ext cx="8902750" cy="4293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hyperlink" Target="https://platform.openai.com/docs" TargetMode="External"/><Relationship Id="rId4" Type="http://schemas.openxmlformats.org/officeDocument/2006/relationships/hyperlink" Target="https://developers.google.com/gmail/api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058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30"/>
              <a:t>PRESENTATION</a:t>
            </a:r>
            <a:r>
              <a:rPr dirty="0" sz="2950" spc="-105"/>
              <a:t> </a:t>
            </a:r>
            <a:r>
              <a:rPr dirty="0" sz="2950" spc="-25"/>
              <a:t>ON</a:t>
            </a:r>
            <a:endParaRPr sz="2950"/>
          </a:p>
        </p:txBody>
      </p:sp>
      <p:sp>
        <p:nvSpPr>
          <p:cNvPr id="4" name="object 4" descr=""/>
          <p:cNvSpPr txBox="1"/>
          <p:nvPr/>
        </p:nvSpPr>
        <p:spPr>
          <a:xfrm>
            <a:off x="3652520" y="3369640"/>
            <a:ext cx="2566035" cy="1612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715">
              <a:lnSpc>
                <a:spcPts val="10300"/>
              </a:lnSpc>
              <a:spcBef>
                <a:spcPts val="95"/>
              </a:spcBef>
            </a:pPr>
            <a:r>
              <a:rPr dirty="0" sz="8800" spc="-25">
                <a:latin typeface="Times New Roman"/>
                <a:cs typeface="Times New Roman"/>
              </a:rPr>
              <a:t>CEA</a:t>
            </a:r>
            <a:endParaRPr sz="8800">
              <a:latin typeface="Times New Roman"/>
              <a:cs typeface="Times New Roman"/>
            </a:endParaRPr>
          </a:p>
          <a:p>
            <a:pPr algn="ctr">
              <a:lnSpc>
                <a:spcPts val="2200"/>
              </a:lnSpc>
            </a:pPr>
            <a:r>
              <a:rPr dirty="0" sz="2050">
                <a:latin typeface="Times New Roman"/>
                <a:cs typeface="Times New Roman"/>
              </a:rPr>
              <a:t>COLD</a:t>
            </a:r>
            <a:r>
              <a:rPr dirty="0" sz="2050" spc="-60">
                <a:latin typeface="Times New Roman"/>
                <a:cs typeface="Times New Roman"/>
              </a:rPr>
              <a:t> </a:t>
            </a:r>
            <a:r>
              <a:rPr dirty="0" sz="2050">
                <a:latin typeface="Times New Roman"/>
                <a:cs typeface="Times New Roman"/>
              </a:rPr>
              <a:t>EMAIL</a:t>
            </a:r>
            <a:r>
              <a:rPr dirty="0" sz="2050" spc="-25">
                <a:latin typeface="Times New Roman"/>
                <a:cs typeface="Times New Roman"/>
              </a:rPr>
              <a:t> </a:t>
            </a:r>
            <a:r>
              <a:rPr dirty="0" sz="2050" spc="-20">
                <a:latin typeface="Times New Roman"/>
                <a:cs typeface="Times New Roman"/>
              </a:rPr>
              <a:t>AGENT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1057655"/>
            <a:ext cx="10053827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27405">
              <a:lnSpc>
                <a:spcPct val="100000"/>
              </a:lnSpc>
              <a:spcBef>
                <a:spcPts val="100"/>
              </a:spcBef>
            </a:pPr>
            <a:r>
              <a:rPr dirty="0" sz="2650" spc="-100"/>
              <a:t>VISVESVARAYA</a:t>
            </a:r>
            <a:r>
              <a:rPr dirty="0" sz="2650" spc="-190"/>
              <a:t> </a:t>
            </a:r>
            <a:r>
              <a:rPr dirty="0" sz="2650" spc="-30"/>
              <a:t>TECHNOLOGICAL</a:t>
            </a:r>
            <a:r>
              <a:rPr dirty="0" sz="2650" spc="-65"/>
              <a:t> </a:t>
            </a:r>
            <a:r>
              <a:rPr dirty="0" sz="2650" spc="-10"/>
              <a:t>UNIVERSITY</a:t>
            </a:r>
            <a:endParaRPr sz="265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3759" y="1952244"/>
            <a:ext cx="3398520" cy="8061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352927" y="5467991"/>
            <a:ext cx="1289050" cy="98869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95"/>
              </a:spcBef>
            </a:pPr>
            <a:r>
              <a:rPr dirty="0" sz="1450" spc="-20">
                <a:latin typeface="Times New Roman"/>
                <a:cs typeface="Times New Roman"/>
              </a:rPr>
              <a:t>Aravind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 spc="-10">
                <a:latin typeface="Times New Roman"/>
                <a:cs typeface="Times New Roman"/>
              </a:rPr>
              <a:t>Pawar Arun</a:t>
            </a:r>
            <a:r>
              <a:rPr dirty="0" sz="1450" spc="-45">
                <a:latin typeface="Times New Roman"/>
                <a:cs typeface="Times New Roman"/>
              </a:rPr>
              <a:t> </a:t>
            </a:r>
            <a:r>
              <a:rPr dirty="0" sz="1450" spc="-20">
                <a:latin typeface="Times New Roman"/>
                <a:cs typeface="Times New Roman"/>
              </a:rPr>
              <a:t>Kumar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>
                <a:latin typeface="Times New Roman"/>
                <a:cs typeface="Times New Roman"/>
              </a:rPr>
              <a:t>K</a:t>
            </a:r>
            <a:r>
              <a:rPr dirty="0" sz="1450" spc="-55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H </a:t>
            </a:r>
            <a:r>
              <a:rPr dirty="0" sz="1450">
                <a:latin typeface="Times New Roman"/>
                <a:cs typeface="Times New Roman"/>
              </a:rPr>
              <a:t>Chandan</a:t>
            </a:r>
            <a:r>
              <a:rPr dirty="0" sz="1450" spc="-85">
                <a:latin typeface="Times New Roman"/>
                <a:cs typeface="Times New Roman"/>
              </a:rPr>
              <a:t> </a:t>
            </a:r>
            <a:r>
              <a:rPr dirty="0" sz="1450" spc="-50">
                <a:latin typeface="Times New Roman"/>
                <a:cs typeface="Times New Roman"/>
              </a:rPr>
              <a:t>R </a:t>
            </a:r>
            <a:r>
              <a:rPr dirty="0" sz="1450" spc="-10">
                <a:latin typeface="Times New Roman"/>
                <a:cs typeface="Times New Roman"/>
              </a:rPr>
              <a:t>Naveen</a:t>
            </a:r>
            <a:r>
              <a:rPr dirty="0" sz="1450" spc="-40">
                <a:latin typeface="Times New Roman"/>
                <a:cs typeface="Times New Roman"/>
              </a:rPr>
              <a:t> </a:t>
            </a:r>
            <a:r>
              <a:rPr dirty="0" sz="1450" spc="-20">
                <a:latin typeface="Times New Roman"/>
                <a:cs typeface="Times New Roman"/>
              </a:rPr>
              <a:t>Kumar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86780" y="5488609"/>
            <a:ext cx="1034415" cy="94678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450" spc="-10">
                <a:latin typeface="Times New Roman"/>
                <a:cs typeface="Times New Roman"/>
              </a:rPr>
              <a:t>1SZ23CS006</a:t>
            </a:r>
            <a:endParaRPr sz="1450">
              <a:latin typeface="Times New Roman"/>
              <a:cs typeface="Times New Roman"/>
            </a:endParaRPr>
          </a:p>
          <a:p>
            <a:pPr marL="29209">
              <a:lnSpc>
                <a:spcPct val="100000"/>
              </a:lnSpc>
              <a:spcBef>
                <a:spcPts val="95"/>
              </a:spcBef>
            </a:pPr>
            <a:r>
              <a:rPr dirty="0" sz="1450" spc="-10">
                <a:latin typeface="Times New Roman"/>
                <a:cs typeface="Times New Roman"/>
              </a:rPr>
              <a:t>1SZ23CS009</a:t>
            </a:r>
            <a:endParaRPr sz="14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</a:pPr>
            <a:r>
              <a:rPr dirty="0" sz="1450" spc="-10">
                <a:latin typeface="Times New Roman"/>
                <a:cs typeface="Times New Roman"/>
              </a:rPr>
              <a:t>1SZ23CS014</a:t>
            </a:r>
            <a:endParaRPr sz="14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50" spc="-10">
                <a:latin typeface="Times New Roman"/>
                <a:cs typeface="Times New Roman"/>
              </a:rPr>
              <a:t>1SZ23CS037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527552" y="2945166"/>
            <a:ext cx="3170555" cy="249301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0"/>
              </a:spcBef>
            </a:pPr>
            <a:r>
              <a:rPr dirty="0" sz="1450">
                <a:solidFill>
                  <a:srgbClr val="1F3863"/>
                </a:solidFill>
                <a:latin typeface="Times New Roman"/>
                <a:cs typeface="Times New Roman"/>
              </a:rPr>
              <a:t>A</a:t>
            </a:r>
            <a:r>
              <a:rPr dirty="0" sz="1450" spc="-6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1F3863"/>
                </a:solidFill>
                <a:latin typeface="Times New Roman"/>
                <a:cs typeface="Times New Roman"/>
              </a:rPr>
              <a:t>MINI</a:t>
            </a:r>
            <a:r>
              <a:rPr dirty="0" sz="1450" spc="55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1F3863"/>
                </a:solidFill>
                <a:latin typeface="Times New Roman"/>
                <a:cs typeface="Times New Roman"/>
              </a:rPr>
              <a:t>PROJECT</a:t>
            </a:r>
            <a:r>
              <a:rPr dirty="0" sz="1450" spc="-25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450" spc="-20">
                <a:solidFill>
                  <a:srgbClr val="1F3863"/>
                </a:solidFill>
                <a:latin typeface="Times New Roman"/>
                <a:cs typeface="Times New Roman"/>
              </a:rPr>
              <a:t>PRESENTATION</a:t>
            </a:r>
            <a:r>
              <a:rPr dirty="0" sz="1450" spc="40">
                <a:solidFill>
                  <a:srgbClr val="1F3863"/>
                </a:solidFill>
                <a:latin typeface="Times New Roman"/>
                <a:cs typeface="Times New Roman"/>
              </a:rPr>
              <a:t> </a:t>
            </a:r>
            <a:r>
              <a:rPr dirty="0" sz="1450" spc="-25">
                <a:solidFill>
                  <a:srgbClr val="1F3863"/>
                </a:solidFill>
                <a:latin typeface="Times New Roman"/>
                <a:cs typeface="Times New Roman"/>
              </a:rPr>
              <a:t>ON</a:t>
            </a:r>
            <a:endParaRPr sz="1450">
              <a:latin typeface="Times New Roman"/>
              <a:cs typeface="Times New Roman"/>
            </a:endParaRPr>
          </a:p>
          <a:p>
            <a:pPr algn="ctr" marL="8255">
              <a:lnSpc>
                <a:spcPct val="100000"/>
              </a:lnSpc>
              <a:spcBef>
                <a:spcPts val="1255"/>
              </a:spcBef>
            </a:pPr>
            <a:r>
              <a:rPr dirty="0" sz="2450" b="1">
                <a:solidFill>
                  <a:srgbClr val="FF0000"/>
                </a:solidFill>
                <a:latin typeface="Times New Roman"/>
                <a:cs typeface="Times New Roman"/>
              </a:rPr>
              <a:t>CEA</a:t>
            </a:r>
            <a:r>
              <a:rPr dirty="0" sz="2450" spc="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2450" spc="-12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-100">
                <a:solidFill>
                  <a:srgbClr val="FF0000"/>
                </a:solidFill>
                <a:latin typeface="Times New Roman"/>
                <a:cs typeface="Times New Roman"/>
              </a:rPr>
              <a:t>Cold</a:t>
            </a:r>
            <a:r>
              <a:rPr dirty="0" sz="2450" spc="-229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-100">
                <a:solidFill>
                  <a:srgbClr val="FF0000"/>
                </a:solidFill>
                <a:latin typeface="Times New Roman"/>
                <a:cs typeface="Times New Roman"/>
              </a:rPr>
              <a:t>Email</a:t>
            </a:r>
            <a:r>
              <a:rPr dirty="0" sz="2450" spc="-22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50" spc="-20">
                <a:solidFill>
                  <a:srgbClr val="FF0000"/>
                </a:solidFill>
                <a:latin typeface="Times New Roman"/>
                <a:cs typeface="Times New Roman"/>
              </a:rPr>
              <a:t>Agent</a:t>
            </a:r>
            <a:endParaRPr sz="2450">
              <a:latin typeface="Times New Roman"/>
              <a:cs typeface="Times New Roman"/>
            </a:endParaRPr>
          </a:p>
          <a:p>
            <a:pPr marL="757555" marR="426084" indent="-341630">
              <a:lnSpc>
                <a:spcPct val="103499"/>
              </a:lnSpc>
              <a:spcBef>
                <a:spcPts val="950"/>
              </a:spcBef>
            </a:pPr>
            <a:r>
              <a:rPr dirty="0" sz="2050">
                <a:solidFill>
                  <a:srgbClr val="001F5F"/>
                </a:solidFill>
                <a:latin typeface="Times New Roman"/>
                <a:cs typeface="Times New Roman"/>
              </a:rPr>
              <a:t>Under</a:t>
            </a:r>
            <a:r>
              <a:rPr dirty="0" sz="2050" spc="-35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001F5F"/>
                </a:solidFill>
                <a:latin typeface="Times New Roman"/>
                <a:cs typeface="Times New Roman"/>
              </a:rPr>
              <a:t>the</a:t>
            </a:r>
            <a:r>
              <a:rPr dirty="0" sz="2050" spc="-45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050">
                <a:solidFill>
                  <a:srgbClr val="001F5F"/>
                </a:solidFill>
                <a:latin typeface="Times New Roman"/>
                <a:cs typeface="Times New Roman"/>
              </a:rPr>
              <a:t>guidance</a:t>
            </a:r>
            <a:r>
              <a:rPr dirty="0" sz="2050" spc="-35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2050" spc="-25">
                <a:solidFill>
                  <a:srgbClr val="001F5F"/>
                </a:solidFill>
                <a:latin typeface="Times New Roman"/>
                <a:cs typeface="Times New Roman"/>
              </a:rPr>
              <a:t>of </a:t>
            </a:r>
            <a:r>
              <a:rPr dirty="0" sz="1650" b="1">
                <a:latin typeface="Times New Roman"/>
                <a:cs typeface="Times New Roman"/>
              </a:rPr>
              <a:t>Ms.</a:t>
            </a:r>
            <a:r>
              <a:rPr dirty="0" sz="1650" spc="-4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Sanjana</a:t>
            </a:r>
            <a:r>
              <a:rPr dirty="0" sz="1650" spc="-90" b="1">
                <a:latin typeface="Times New Roman"/>
                <a:cs typeface="Times New Roman"/>
              </a:rPr>
              <a:t> </a:t>
            </a:r>
            <a:r>
              <a:rPr dirty="0" sz="1650" b="1">
                <a:latin typeface="Times New Roman"/>
                <a:cs typeface="Times New Roman"/>
              </a:rPr>
              <a:t>K</a:t>
            </a:r>
            <a:r>
              <a:rPr dirty="0" sz="1650" spc="-25" b="1">
                <a:latin typeface="Times New Roman"/>
                <a:cs typeface="Times New Roman"/>
              </a:rPr>
              <a:t> </a:t>
            </a:r>
            <a:r>
              <a:rPr dirty="0" sz="1650" spc="-50" b="1">
                <a:latin typeface="Times New Roman"/>
                <a:cs typeface="Times New Roman"/>
              </a:rPr>
              <a:t>P </a:t>
            </a:r>
            <a:r>
              <a:rPr dirty="0" sz="1650">
                <a:latin typeface="Times New Roman"/>
                <a:cs typeface="Times New Roman"/>
              </a:rPr>
              <a:t>Assistant</a:t>
            </a:r>
            <a:r>
              <a:rPr dirty="0" sz="1650" spc="-10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Professor </a:t>
            </a:r>
            <a:r>
              <a:rPr dirty="0" sz="1650">
                <a:latin typeface="Times New Roman"/>
                <a:cs typeface="Times New Roman"/>
              </a:rPr>
              <a:t>Department</a:t>
            </a:r>
            <a:r>
              <a:rPr dirty="0" sz="1650" spc="-75">
                <a:latin typeface="Times New Roman"/>
                <a:cs typeface="Times New Roman"/>
              </a:rPr>
              <a:t> </a:t>
            </a:r>
            <a:r>
              <a:rPr dirty="0" sz="1650">
                <a:latin typeface="Times New Roman"/>
                <a:cs typeface="Times New Roman"/>
              </a:rPr>
              <a:t>of</a:t>
            </a:r>
            <a:r>
              <a:rPr dirty="0" sz="1650" spc="-7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CSE</a:t>
            </a:r>
            <a:endParaRPr sz="165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330"/>
              </a:spcBef>
            </a:pPr>
            <a:r>
              <a:rPr dirty="0" sz="1450">
                <a:solidFill>
                  <a:srgbClr val="FF0000"/>
                </a:solidFill>
                <a:latin typeface="Times New Roman"/>
                <a:cs typeface="Times New Roman"/>
              </a:rPr>
              <a:t>Presented</a:t>
            </a:r>
            <a:r>
              <a:rPr dirty="0" sz="1450" spc="55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450" spc="-25">
                <a:solidFill>
                  <a:srgbClr val="FF0000"/>
                </a:solidFill>
                <a:latin typeface="Times New Roman"/>
                <a:cs typeface="Times New Roman"/>
              </a:rPr>
              <a:t>By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225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Table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05"/>
              <a:t> </a:t>
            </a:r>
            <a:r>
              <a:rPr dirty="0" spc="-1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895" y="2247900"/>
            <a:ext cx="8676132" cy="4328160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80212" y="2236216"/>
          <a:ext cx="8764270" cy="4322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4690"/>
                <a:gridCol w="7980680"/>
              </a:tblGrid>
              <a:tr h="333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SL.no.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63246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Chapters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Introduction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2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Problem</a:t>
                      </a:r>
                      <a:r>
                        <a:rPr dirty="0" sz="145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Statement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3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Objectives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4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Literature</a:t>
                      </a:r>
                      <a:r>
                        <a:rPr dirty="0" sz="1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survey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5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Existing</a:t>
                      </a:r>
                      <a:r>
                        <a:rPr dirty="0" sz="1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4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Proposed</a:t>
                      </a:r>
                      <a:r>
                        <a:rPr dirty="0" sz="1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System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6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14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design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7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Requirement</a:t>
                      </a:r>
                      <a:r>
                        <a:rPr dirty="0" sz="1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specification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210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8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Working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 marR="800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9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14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Cases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Calibri"/>
                          <a:cs typeface="Calibri"/>
                        </a:rPr>
                        <a:t>10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Snapshots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Calibri"/>
                          <a:cs typeface="Calibri"/>
                        </a:rPr>
                        <a:t>11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Conclusion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Calibri"/>
                          <a:cs typeface="Calibri"/>
                        </a:rPr>
                        <a:t>12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References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589" rIns="0" bIns="0" rtlCol="0" vert="horz">
            <a:spAutoFit/>
          </a:bodyPr>
          <a:lstStyle/>
          <a:p>
            <a:pPr marL="268605">
              <a:lnSpc>
                <a:spcPct val="100000"/>
              </a:lnSpc>
              <a:spcBef>
                <a:spcPts val="100"/>
              </a:spcBef>
            </a:pPr>
            <a:r>
              <a:rPr dirty="0"/>
              <a:t>1. </a:t>
            </a:r>
            <a:r>
              <a:rPr dirty="0" spc="-10"/>
              <a:t>Introduction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17295" y="2940177"/>
            <a:ext cx="8489315" cy="2769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  <a:tab pos="887094" algn="l"/>
                <a:tab pos="1830705" algn="l"/>
                <a:tab pos="2127885" algn="l"/>
                <a:tab pos="2372995" algn="l"/>
                <a:tab pos="3315335" algn="l"/>
                <a:tab pos="4145915" algn="l"/>
                <a:tab pos="4708525" algn="l"/>
                <a:tab pos="5118735" algn="l"/>
                <a:tab pos="6246495" algn="l"/>
                <a:tab pos="6891020" algn="l"/>
                <a:tab pos="8145780" algn="l"/>
              </a:tabLst>
            </a:pPr>
            <a:r>
              <a:rPr dirty="0" sz="1800" spc="-20">
                <a:latin typeface="Times New Roman"/>
                <a:cs typeface="Times New Roman"/>
              </a:rPr>
              <a:t>Cold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emailing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is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50">
                <a:latin typeface="Times New Roman"/>
                <a:cs typeface="Times New Roman"/>
              </a:rPr>
              <a:t>a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common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method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used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for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marketing,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sales,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recruitment,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communication.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  <a:tab pos="1148080" algn="l"/>
                <a:tab pos="2440305" algn="l"/>
                <a:tab pos="3173730" algn="l"/>
                <a:tab pos="4161154" algn="l"/>
                <a:tab pos="4565015" algn="l"/>
                <a:tab pos="5210175" algn="l"/>
                <a:tab pos="6234430" algn="l"/>
                <a:tab pos="6522084" algn="l"/>
                <a:tab pos="8145780" algn="l"/>
              </a:tabLst>
            </a:pPr>
            <a:r>
              <a:rPr dirty="0" sz="1800" spc="-10">
                <a:latin typeface="Times New Roman"/>
                <a:cs typeface="Times New Roman"/>
              </a:rPr>
              <a:t>Writing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personalized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emails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manually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for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many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recipients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is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time-consuming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repetitive.</a:t>
            </a:r>
            <a:endParaRPr sz="1800">
              <a:latin typeface="Times New Roman"/>
              <a:cs typeface="Times New Roman"/>
            </a:endParaRPr>
          </a:p>
          <a:p>
            <a:pPr marL="299085" marR="762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often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struggle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maintaining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consistency,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tone,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professionalism,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0">
                <a:latin typeface="Times New Roman"/>
                <a:cs typeface="Times New Roman"/>
              </a:rPr>
              <a:t> emails.</a:t>
            </a:r>
            <a:endParaRPr sz="1800">
              <a:latin typeface="Times New Roman"/>
              <a:cs typeface="Times New Roman"/>
            </a:endParaRPr>
          </a:p>
          <a:p>
            <a:pPr marL="299085" marR="57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  <a:tab pos="809625" algn="l"/>
                <a:tab pos="1405255" algn="l"/>
                <a:tab pos="2105025" algn="l"/>
                <a:tab pos="2815590" algn="l"/>
                <a:tab pos="3896360" algn="l"/>
                <a:tab pos="4327525" algn="l"/>
                <a:tab pos="5002530" algn="l"/>
                <a:tab pos="5840730" algn="l"/>
                <a:tab pos="6183630" algn="l"/>
                <a:tab pos="7303134" algn="l"/>
              </a:tabLst>
            </a:pPr>
            <a:r>
              <a:rPr dirty="0" sz="1800" spc="-25">
                <a:latin typeface="Times New Roman"/>
                <a:cs typeface="Times New Roman"/>
              </a:rPr>
              <a:t>The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Cold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Email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Agent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automates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entire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process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of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generating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professional, </a:t>
            </a:r>
            <a:r>
              <a:rPr dirty="0" sz="1800">
                <a:latin typeface="Times New Roman"/>
                <a:cs typeface="Times New Roman"/>
              </a:rPr>
              <a:t>customized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emails.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understand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inputs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context-</a:t>
            </a:r>
            <a:r>
              <a:rPr dirty="0" sz="1800">
                <a:latin typeface="Times New Roman"/>
                <a:cs typeface="Times New Roman"/>
              </a:rPr>
              <a:t>specific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content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instantly.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also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supports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bulk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 Gmail/SMTP </a:t>
            </a:r>
            <a:r>
              <a:rPr dirty="0" sz="1800" spc="-10">
                <a:latin typeface="Times New Roman"/>
                <a:cs typeface="Times New Roman"/>
              </a:rPr>
              <a:t>integration.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0586" rIns="0" bIns="0" rtlCol="0" vert="horz">
            <a:spAutoFit/>
          </a:bodyPr>
          <a:lstStyle/>
          <a:p>
            <a:pPr marL="179705">
              <a:lnSpc>
                <a:spcPct val="100000"/>
              </a:lnSpc>
              <a:spcBef>
                <a:spcPts val="105"/>
              </a:spcBef>
            </a:pPr>
            <a:r>
              <a:rPr dirty="0" sz="2950"/>
              <a:t>2.</a:t>
            </a:r>
            <a:r>
              <a:rPr dirty="0" sz="2950" spc="-65"/>
              <a:t> </a:t>
            </a:r>
            <a:r>
              <a:rPr dirty="0" sz="2950"/>
              <a:t>Problem</a:t>
            </a:r>
            <a:r>
              <a:rPr dirty="0" sz="2950" spc="-40"/>
              <a:t> </a:t>
            </a:r>
            <a:r>
              <a:rPr dirty="0" sz="2950" spc="-10"/>
              <a:t>Statement</a:t>
            </a:r>
            <a:endParaRPr sz="2950"/>
          </a:p>
        </p:txBody>
      </p:sp>
      <p:sp>
        <p:nvSpPr>
          <p:cNvPr id="4" name="object 4" descr=""/>
          <p:cNvSpPr txBox="1"/>
          <p:nvPr/>
        </p:nvSpPr>
        <p:spPr>
          <a:xfrm>
            <a:off x="612140" y="3149600"/>
            <a:ext cx="8594725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Manually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writing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time-</a:t>
            </a:r>
            <a:r>
              <a:rPr dirty="0" sz="1800">
                <a:latin typeface="Times New Roman"/>
                <a:cs typeface="Times New Roman"/>
              </a:rPr>
              <a:t>consuming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inefficient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large-</a:t>
            </a:r>
            <a:r>
              <a:rPr dirty="0" sz="1800">
                <a:latin typeface="Times New Roman"/>
                <a:cs typeface="Times New Roman"/>
              </a:rPr>
              <a:t>scale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outreach.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often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face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difficulty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each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recipient.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Maintaining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consistency,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tone,</a:t>
            </a:r>
            <a:r>
              <a:rPr dirty="0" sz="1800" spc="2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professionalism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becomes</a:t>
            </a:r>
            <a:r>
              <a:rPr dirty="0" sz="1800" spc="2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challenging</a:t>
            </a:r>
            <a:r>
              <a:rPr dirty="0" sz="1800" spc="2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254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writing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emails.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Human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errors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formatting,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grammar,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recipient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details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quality.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Bulk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methods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slow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mistakes.</a:t>
            </a:r>
            <a:endParaRPr sz="1800">
              <a:latin typeface="Times New Roman"/>
              <a:cs typeface="Times New Roman"/>
            </a:endParaRPr>
          </a:p>
          <a:p>
            <a:pPr marL="299085" marR="698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459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proper</a:t>
            </a:r>
            <a:r>
              <a:rPr dirty="0" sz="1800" spc="4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deliverability</a:t>
            </a:r>
            <a:r>
              <a:rPr dirty="0" sz="1800" spc="4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48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avoiding</a:t>
            </a:r>
            <a:r>
              <a:rPr dirty="0" sz="1800" spc="4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spam</a:t>
            </a:r>
            <a:r>
              <a:rPr dirty="0" sz="1800" spc="4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triggers</a:t>
            </a:r>
            <a:r>
              <a:rPr dirty="0" sz="1800" spc="4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4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difficult</a:t>
            </a:r>
            <a:r>
              <a:rPr dirty="0" sz="1800" spc="4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without </a:t>
            </a:r>
            <a:r>
              <a:rPr dirty="0" sz="1800">
                <a:latin typeface="Times New Roman"/>
                <a:cs typeface="Times New Roman"/>
              </a:rPr>
              <a:t>automated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checks.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1057655"/>
            <a:ext cx="10053827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5871" rIns="0" bIns="0" rtlCol="0" vert="horz">
            <a:spAutoFit/>
          </a:bodyPr>
          <a:lstStyle/>
          <a:p>
            <a:pPr marL="112395">
              <a:lnSpc>
                <a:spcPct val="100000"/>
              </a:lnSpc>
              <a:spcBef>
                <a:spcPts val="100"/>
              </a:spcBef>
            </a:pPr>
            <a:r>
              <a:rPr dirty="0"/>
              <a:t>3. </a:t>
            </a:r>
            <a:r>
              <a:rPr dirty="0" spc="-10"/>
              <a:t>Objectives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602994" y="2567432"/>
            <a:ext cx="682307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creation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professional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emails.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effort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save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drafting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repetitive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emails.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context-</a:t>
            </a:r>
            <a:r>
              <a:rPr dirty="0" sz="1800">
                <a:latin typeface="Times New Roman"/>
                <a:cs typeface="Times New Roman"/>
              </a:rPr>
              <a:t>relevant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content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inputs.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formats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recipient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before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sending.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support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bulk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Gmail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SMTP</a:t>
            </a:r>
            <a:r>
              <a:rPr dirty="0" sz="1800" spc="-10">
                <a:latin typeface="Times New Roman"/>
                <a:cs typeface="Times New Roman"/>
              </a:rPr>
              <a:t> integration.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maintain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consistency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tone,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structure,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formatting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emails.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589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dirty="0" spc="-70"/>
              <a:t> </a:t>
            </a:r>
            <a:r>
              <a:rPr dirty="0"/>
              <a:t>Literature</a:t>
            </a:r>
            <a:r>
              <a:rPr dirty="0" spc="-65"/>
              <a:t> </a:t>
            </a:r>
            <a:r>
              <a:rPr dirty="0" spc="-10"/>
              <a:t>survey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712" y="2388107"/>
            <a:ext cx="8801100" cy="4299204"/>
          </a:xfrm>
          <a:prstGeom prst="rect">
            <a:avLst/>
          </a:prstGeom>
        </p:spPr>
      </p:pic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37362" y="2381757"/>
          <a:ext cx="8890000" cy="4244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4710"/>
                <a:gridCol w="2078989"/>
                <a:gridCol w="1504314"/>
                <a:gridCol w="778510"/>
                <a:gridCol w="2040890"/>
                <a:gridCol w="1544320"/>
              </a:tblGrid>
              <a:tr h="255270">
                <a:tc>
                  <a:txBody>
                    <a:bodyPr/>
                    <a:lstStyle/>
                    <a:p>
                      <a:pPr algn="ctr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SL.NO.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  <a:r>
                        <a:rPr dirty="0" sz="1450" spc="-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2570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AUTHOR(S)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5020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8120">
                        <a:lnSpc>
                          <a:spcPts val="1685"/>
                        </a:lnSpc>
                        <a:spcBef>
                          <a:spcPts val="229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CHALLENGES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008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77343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45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Email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6178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Automation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4671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Patel</a:t>
                      </a:r>
                      <a:r>
                        <a:rPr dirty="0" sz="1450" spc="2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45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al.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2020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70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0541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145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generate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R="1047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drafts.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R="3492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Limited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 marR="3619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personalization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6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NLP-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4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Email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81280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Personalization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527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Sharma</a:t>
                      </a:r>
                      <a:r>
                        <a:rPr dirty="0" sz="145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45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al.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2021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7795" marR="124460" indent="-40005">
                        <a:lnSpc>
                          <a:spcPct val="102699"/>
                        </a:lnSpc>
                        <a:spcBef>
                          <a:spcPts val="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Applies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create context-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aware</a:t>
                      </a:r>
                      <a:r>
                        <a:rPr dirty="0" sz="16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emails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265" marR="410209">
                        <a:lnSpc>
                          <a:spcPct val="102299"/>
                        </a:lnSpc>
                        <a:spcBef>
                          <a:spcPts val="4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Requireslarg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training data.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798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Bulk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Email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Send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96837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System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Gupta</a:t>
                      </a:r>
                      <a:r>
                        <a:rPr dirty="0" sz="14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45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Kumar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2022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0175" marR="337185">
                        <a:lnSpc>
                          <a:spcPct val="102200"/>
                        </a:lnSpc>
                        <a:spcBef>
                          <a:spcPts val="2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Automates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sending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emails to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multiple recipients.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 marR="385445" indent="-193675">
                        <a:lnSpc>
                          <a:spcPct val="102499"/>
                        </a:lnSpc>
                        <a:spcBef>
                          <a:spcPts val="6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Deliverabilit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issues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4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dirty="0" sz="145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Manager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0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567690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Das</a:t>
                      </a:r>
                      <a:r>
                        <a:rPr dirty="0" sz="14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 al.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20">
                          <a:latin typeface="Times New Roman"/>
                          <a:cs typeface="Times New Roman"/>
                        </a:rPr>
                        <a:t>2023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 marR="99060" indent="196215">
                        <a:lnSpc>
                          <a:spcPct val="102499"/>
                        </a:lnSpc>
                        <a:spcBef>
                          <a:spcPts val="6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template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creation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scheduling.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375" marR="248285" indent="5715">
                        <a:lnSpc>
                          <a:spcPct val="102499"/>
                        </a:lnSpc>
                        <a:spcBef>
                          <a:spcPts val="85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Notscalablefor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outreach.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762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3175">
                        <a:lnSpc>
                          <a:spcPct val="100000"/>
                        </a:lnSpc>
                      </a:pPr>
                      <a:r>
                        <a:rPr dirty="0" sz="1450" spc="-50">
                          <a:latin typeface="Times New Roman"/>
                          <a:cs typeface="Times New Roman"/>
                        </a:rPr>
                        <a:t>5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145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Outreach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250825">
                        <a:lnSpc>
                          <a:spcPct val="100000"/>
                        </a:lnSpc>
                      </a:pPr>
                      <a:r>
                        <a:rPr dirty="0" sz="1450">
                          <a:latin typeface="Times New Roman"/>
                          <a:cs typeface="Times New Roman"/>
                        </a:rPr>
                        <a:t>Hussain</a:t>
                      </a:r>
                      <a:r>
                        <a:rPr dirty="0" sz="14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4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25">
                          <a:latin typeface="Times New Roman"/>
                          <a:cs typeface="Times New Roman"/>
                        </a:rPr>
                        <a:t>al.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500" spc="-20">
                          <a:latin typeface="Times New Roman"/>
                          <a:cs typeface="Times New Roman"/>
                        </a:rPr>
                        <a:t>2024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2555" marR="348615" indent="-2540">
                        <a:lnSpc>
                          <a:spcPct val="102200"/>
                        </a:lnSpc>
                        <a:spcBef>
                          <a:spcPts val="2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Enhances</a:t>
                      </a:r>
                      <a:r>
                        <a:rPr dirty="0" sz="16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outreach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generated messages.</a:t>
                      </a:r>
                      <a:r>
                        <a:rPr dirty="0" sz="1450" spc="-10">
                          <a:latin typeface="Times New Roman"/>
                          <a:cs typeface="Times New Roman"/>
                        </a:rPr>
                        <a:t>.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3189" marR="401955">
                        <a:lnSpc>
                          <a:spcPct val="102200"/>
                        </a:lnSpc>
                        <a:spcBef>
                          <a:spcPts val="2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reduces usability.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638"/>
            <a:ext cx="9982199" cy="63825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661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dirty="0" spc="-100"/>
              <a:t> </a:t>
            </a:r>
            <a:r>
              <a:rPr dirty="0"/>
              <a:t>Existing</a:t>
            </a:r>
            <a:r>
              <a:rPr dirty="0" spc="-95"/>
              <a:t> </a:t>
            </a:r>
            <a:r>
              <a:rPr dirty="0"/>
              <a:t>&amp;Proposed</a:t>
            </a:r>
            <a:r>
              <a:rPr dirty="0" spc="-80"/>
              <a:t> </a:t>
            </a:r>
            <a:r>
              <a:rPr dirty="0" spc="-10"/>
              <a:t>System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03250" y="2463164"/>
          <a:ext cx="8966200" cy="506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8465"/>
                <a:gridCol w="2959735"/>
                <a:gridCol w="2958465"/>
              </a:tblGrid>
              <a:tr h="304800">
                <a:tc>
                  <a:txBody>
                    <a:bodyPr/>
                    <a:lstStyle/>
                    <a:p>
                      <a:pPr marL="821690">
                        <a:lnSpc>
                          <a:spcPts val="1680"/>
                        </a:lnSpc>
                        <a:spcBef>
                          <a:spcPts val="620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FEATURES/ASPECTS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925830">
                        <a:lnSpc>
                          <a:spcPts val="1680"/>
                        </a:lnSpc>
                        <a:spcBef>
                          <a:spcPts val="620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1450" spc="7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845819">
                        <a:lnSpc>
                          <a:spcPts val="1680"/>
                        </a:lnSpc>
                        <a:spcBef>
                          <a:spcPts val="620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1450" spc="10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endParaRPr sz="14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87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8978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Creation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887730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writing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19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1181100" marR="260350" indent="-911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generated</a:t>
                      </a:r>
                      <a:r>
                        <a:rPr dirty="0" sz="18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personalized emails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8909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Personalization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43497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Limited or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generic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content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Automated,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data-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based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personalization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607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Bulk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Sending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Time-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consuming</a:t>
                      </a:r>
                      <a:r>
                        <a:rPr dirty="0" sz="16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error-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prone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1308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One-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click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bulk</a:t>
                      </a:r>
                      <a:r>
                        <a:rPr dirty="0" sz="18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sending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207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Handling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35560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dirty="0" sz="16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contacts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860425" marR="225425" indent="-62674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Auto-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dirty="0" sz="18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 organized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recipient</a:t>
                      </a:r>
                      <a:r>
                        <a:rPr dirty="0" sz="18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data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8985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Error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Handling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1282700" marR="122555" indent="-10775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Frequent</a:t>
                      </a:r>
                      <a:r>
                        <a:rPr dirty="0" sz="16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grammar</a:t>
                      </a:r>
                      <a:r>
                        <a:rPr dirty="0" sz="16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6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formatting errors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corrected,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error-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email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ct val="100000"/>
                        </a:lnSpc>
                      </a:pP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drafts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544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Deliverability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validation;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6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>
                          <a:latin typeface="Times New Roman"/>
                          <a:cs typeface="Times New Roman"/>
                        </a:rPr>
                        <a:t>bounce</a:t>
                      </a:r>
                      <a:r>
                        <a:rPr dirty="0" sz="16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chance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942975" marR="217170" indent="-7194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Email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verification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spam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check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6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marL="9042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Required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499109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Slow,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repetitive</a:t>
                      </a:r>
                      <a:r>
                        <a:rPr dirty="0" sz="18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tasks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workflow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101981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Consistency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942340" marR="361950" indent="-5746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Tone</a:t>
                      </a:r>
                      <a:r>
                        <a:rPr dirty="0" sz="18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8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vary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every</a:t>
                      </a:r>
                      <a:r>
                        <a:rPr dirty="0" sz="18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email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675005" marR="367030" indent="-3003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800">
                          <a:latin typeface="Times New Roman"/>
                          <a:cs typeface="Times New Roman"/>
                        </a:rPr>
                        <a:t>Consistent</a:t>
                      </a:r>
                      <a:r>
                        <a:rPr dirty="0" sz="18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dirty="0"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800">
                          <a:latin typeface="Times New Roman"/>
                          <a:cs typeface="Times New Roman"/>
                        </a:rPr>
                        <a:t>professional</a:t>
                      </a:r>
                      <a:r>
                        <a:rPr dirty="0" sz="18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800" spc="-10">
                          <a:latin typeface="Times New Roman"/>
                          <a:cs typeface="Times New Roman"/>
                        </a:rPr>
                        <a:t>style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7589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dirty="0" spc="-55"/>
              <a:t> </a:t>
            </a:r>
            <a:r>
              <a:rPr dirty="0"/>
              <a:t>System</a:t>
            </a:r>
            <a:r>
              <a:rPr dirty="0" spc="-70"/>
              <a:t> </a:t>
            </a:r>
            <a:r>
              <a:rPr dirty="0" spc="-10"/>
              <a:t>design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3364991" y="2842260"/>
            <a:ext cx="5429250" cy="753745"/>
            <a:chOff x="3364991" y="2842260"/>
            <a:chExt cx="5429250" cy="75374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1271" y="2842260"/>
              <a:ext cx="502158" cy="47929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2083" y="2842260"/>
              <a:ext cx="502157" cy="47929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4991" y="3116580"/>
              <a:ext cx="502158" cy="479298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764540" y="2616834"/>
            <a:ext cx="8510270" cy="386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Architecture</a:t>
            </a:r>
            <a:r>
              <a:rPr dirty="0" sz="1800" spc="-11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Overview: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tabLst>
                <a:tab pos="3022600" algn="l"/>
                <a:tab pos="3740785" algn="l"/>
                <a:tab pos="7950834" algn="l"/>
              </a:tabLst>
            </a:pPr>
            <a:r>
              <a:rPr dirty="0" sz="1800">
                <a:latin typeface="Times New Roman"/>
                <a:cs typeface="Times New Roman"/>
              </a:rPr>
              <a:t>Frontend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(React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HTML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Tailwind)</a:t>
            </a:r>
            <a:r>
              <a:rPr dirty="0" sz="1800">
                <a:latin typeface="Times New Roman"/>
                <a:cs typeface="Times New Roman"/>
              </a:rPr>
              <a:t>	Backend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(Node.js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Express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Python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API)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10">
                <a:latin typeface="Times New Roman"/>
                <a:cs typeface="Times New Roman"/>
              </a:rPr>
              <a:t>Email </a:t>
            </a:r>
            <a:r>
              <a:rPr dirty="0" sz="1800">
                <a:latin typeface="Times New Roman"/>
                <a:cs typeface="Times New Roman"/>
              </a:rPr>
              <a:t>Service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(Gmail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SMTP)</a:t>
            </a:r>
            <a:r>
              <a:rPr dirty="0" sz="1800">
                <a:latin typeface="Times New Roman"/>
                <a:cs typeface="Times New Roman"/>
              </a:rPr>
              <a:t>	Database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(MongoDB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Firebase)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 b="1">
                <a:latin typeface="Times New Roman"/>
                <a:cs typeface="Times New Roman"/>
              </a:rPr>
              <a:t>Flow: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their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credentials.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Frontend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backend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/api/auth/login.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Backend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verifies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returns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authentication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token.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uploads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recipient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(CSV/Excel)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/api/upload.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Backend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stores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contacts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database.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enters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prompt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requests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/api/generate-email.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personalized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back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frontend.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approves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final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clicks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/api/send-email.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Backend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Gmail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API/SMTP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deliver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emails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recipients.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Email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status,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logs,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responses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stored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fetched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→</a:t>
            </a:r>
            <a:r>
              <a:rPr dirty="0" sz="1800" spc="-10">
                <a:latin typeface="Times New Roman"/>
                <a:cs typeface="Times New Roman"/>
              </a:rPr>
              <a:t> /api/status/:id.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157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dirty="0" spc="-114"/>
              <a:t> </a:t>
            </a:r>
            <a:r>
              <a:rPr dirty="0"/>
              <a:t>Requirement</a:t>
            </a:r>
            <a:r>
              <a:rPr dirty="0" spc="-110"/>
              <a:t> </a:t>
            </a:r>
            <a:r>
              <a:rPr dirty="0" spc="-10"/>
              <a:t>specification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49300" y="2210765"/>
            <a:ext cx="6920865" cy="4479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Hardware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Requirements:</a:t>
            </a:r>
            <a:endParaRPr sz="24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Processor: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i3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higher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RAM: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Minimum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4GB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Storage: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least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500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MB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free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space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Network: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Stable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Internet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Connection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0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buAutoNum type="arabicPeriod" startAt="2"/>
              <a:tabLst>
                <a:tab pos="317500" algn="l"/>
              </a:tabLst>
            </a:pPr>
            <a:r>
              <a:rPr dirty="0" sz="2400" b="1">
                <a:latin typeface="Times New Roman"/>
                <a:cs typeface="Times New Roman"/>
              </a:rPr>
              <a:t>Software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Requirements:</a:t>
            </a:r>
            <a:endParaRPr sz="24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Operating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Windows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 Linux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macOS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IDE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/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Code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Editor: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Visual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Studio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Database: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MongoDB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10">
                <a:latin typeface="Times New Roman"/>
                <a:cs typeface="Times New Roman"/>
              </a:rPr>
              <a:t> Firebase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Backend: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Node.js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+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Express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(or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Python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Flask/FastAPI)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Frontend: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React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+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Tailwind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CSS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 HTML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+ </a:t>
            </a:r>
            <a:r>
              <a:rPr dirty="0" sz="2000" spc="-25">
                <a:latin typeface="Times New Roman"/>
                <a:cs typeface="Times New Roman"/>
              </a:rPr>
              <a:t>JS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APIs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Used: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Gmail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API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/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SMTP</a:t>
            </a:r>
            <a:endParaRPr sz="20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Times New Roman"/>
                <a:cs typeface="Times New Roman"/>
              </a:rPr>
              <a:t>Libraries: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CSV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parser,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JWT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authentication,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Axios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API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calls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157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dirty="0" spc="-75"/>
              <a:t> </a:t>
            </a:r>
            <a:r>
              <a:rPr dirty="0" spc="-20"/>
              <a:t>Working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90143" y="2396489"/>
            <a:ext cx="5471795" cy="41706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3995" indent="-20129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13995" algn="l"/>
              </a:tabLst>
            </a:pPr>
            <a:r>
              <a:rPr dirty="0" sz="1600" b="1">
                <a:latin typeface="Times New Roman"/>
                <a:cs typeface="Times New Roman"/>
              </a:rPr>
              <a:t>Sign</a:t>
            </a:r>
            <a:r>
              <a:rPr dirty="0" sz="1600" spc="-1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Up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Page: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enters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Name,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Email,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Password.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Creates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account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access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Cold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Agent.</a:t>
            </a:r>
            <a:endParaRPr sz="160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buAutoNum type="arabicPeriod" startAt="2"/>
              <a:tabLst>
                <a:tab pos="213995" algn="l"/>
              </a:tabLst>
            </a:pPr>
            <a:r>
              <a:rPr dirty="0" sz="1600" b="1">
                <a:latin typeface="Times New Roman"/>
                <a:cs typeface="Times New Roman"/>
              </a:rPr>
              <a:t>Sign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In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Page: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enters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password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in.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After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successful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authentication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token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generated.</a:t>
            </a:r>
            <a:endParaRPr sz="160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buAutoNum type="arabicPeriod" startAt="3"/>
              <a:tabLst>
                <a:tab pos="213995" algn="l"/>
              </a:tabLst>
            </a:pPr>
            <a:r>
              <a:rPr dirty="0" sz="1600" b="1">
                <a:latin typeface="Times New Roman"/>
                <a:cs typeface="Times New Roman"/>
              </a:rPr>
              <a:t>Dashboard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Page:</a:t>
            </a:r>
            <a:endParaRPr sz="1600">
              <a:latin typeface="Times New Roman"/>
              <a:cs typeface="Times New Roman"/>
            </a:endParaRPr>
          </a:p>
          <a:p>
            <a:pPr marL="12700" marR="51308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Displays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options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upload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recipient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list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(CSV/Excel).</a:t>
            </a:r>
            <a:r>
              <a:rPr dirty="0" sz="1600" spc="50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Shows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activities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status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emails. </a:t>
            </a:r>
            <a:r>
              <a:rPr dirty="0" sz="1600">
                <a:latin typeface="Times New Roman"/>
                <a:cs typeface="Times New Roman"/>
              </a:rPr>
              <a:t>Allows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choose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templates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custom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prompt.</a:t>
            </a:r>
            <a:endParaRPr sz="160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buAutoNum type="arabicPeriod" startAt="4"/>
              <a:tabLst>
                <a:tab pos="213995" algn="l"/>
              </a:tabLst>
            </a:pPr>
            <a:r>
              <a:rPr dirty="0" sz="1600" b="1">
                <a:latin typeface="Times New Roman"/>
                <a:cs typeface="Times New Roman"/>
              </a:rPr>
              <a:t>Email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Generation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Page: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enters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purpose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prompt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cold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email.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AI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generates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personalized,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professional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</a:t>
            </a:r>
            <a:r>
              <a:rPr dirty="0" sz="1600" spc="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input.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edit,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regenerate, 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approve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final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email.</a:t>
            </a:r>
            <a:endParaRPr sz="160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buAutoNum type="arabicPeriod" startAt="5"/>
              <a:tabLst>
                <a:tab pos="213995" algn="l"/>
              </a:tabLst>
            </a:pPr>
            <a:r>
              <a:rPr dirty="0" sz="1600" b="1">
                <a:latin typeface="Times New Roman"/>
                <a:cs typeface="Times New Roman"/>
              </a:rPr>
              <a:t>Sending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Page:</a:t>
            </a:r>
            <a:endParaRPr sz="1600">
              <a:latin typeface="Times New Roman"/>
              <a:cs typeface="Times New Roman"/>
            </a:endParaRPr>
          </a:p>
          <a:p>
            <a:pPr marL="12700" marR="17145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addresses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checks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formatting</a:t>
            </a:r>
            <a:r>
              <a:rPr dirty="0" sz="1600" spc="-10">
                <a:latin typeface="Times New Roman"/>
                <a:cs typeface="Times New Roman"/>
              </a:rPr>
              <a:t> errors. </a:t>
            </a:r>
            <a:r>
              <a:rPr dirty="0" sz="1600">
                <a:latin typeface="Times New Roman"/>
                <a:cs typeface="Times New Roman"/>
              </a:rPr>
              <a:t>Sends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emails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Gmail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API/SMTP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click.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157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dirty="0" spc="-150"/>
              <a:t> </a:t>
            </a:r>
            <a:r>
              <a:rPr dirty="0" spc="-40"/>
              <a:t>Test</a:t>
            </a:r>
            <a:r>
              <a:rPr dirty="0" spc="-130"/>
              <a:t> </a:t>
            </a:r>
            <a:r>
              <a:rPr dirty="0" spc="-20"/>
              <a:t>Cases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75640" y="2566923"/>
          <a:ext cx="8467725" cy="38315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/>
                <a:gridCol w="1996439"/>
                <a:gridCol w="2606040"/>
                <a:gridCol w="1790700"/>
                <a:gridCol w="1033145"/>
              </a:tblGrid>
              <a:tr h="496570"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S.NO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39179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TEST </a:t>
                      </a: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SCENARIO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60388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EXPECTED</a:t>
                      </a: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RESULT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ACTUAL</a:t>
                      </a:r>
                      <a:r>
                        <a:rPr dirty="0" sz="1450" spc="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  <a:tc>
                  <a:txBody>
                    <a:bodyPr/>
                    <a:lstStyle/>
                    <a:p>
                      <a:pPr marL="230504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3"/>
                    </a:solidFill>
                  </a:tcPr>
                </a:tc>
              </a:tr>
              <a:tr h="495934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1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Load</a:t>
                      </a:r>
                      <a:r>
                        <a:rPr dirty="0" sz="1450" spc="8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65">
                          <a:latin typeface="Calibri"/>
                          <a:cs typeface="Calibri"/>
                        </a:rPr>
                        <a:t>Dashboard</a:t>
                      </a:r>
                      <a:r>
                        <a:rPr dirty="0" sz="1450" spc="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PAGE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Homepage</a:t>
                      </a:r>
                      <a:r>
                        <a:rPr dirty="0" sz="1450" spc="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Loads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Loaded</a:t>
                      </a:r>
                      <a:r>
                        <a:rPr dirty="0" sz="1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Successfully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2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Upload</a:t>
                      </a:r>
                      <a:r>
                        <a:rPr dirty="0" sz="14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Recipient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 File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Redirect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4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4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Event</a:t>
                      </a:r>
                      <a:r>
                        <a:rPr dirty="0" sz="1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Details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10">
                          <a:latin typeface="Calibri"/>
                          <a:cs typeface="Calibri"/>
                        </a:rPr>
                        <a:t>Uploaded</a:t>
                      </a:r>
                      <a:r>
                        <a:rPr dirty="0" sz="14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Successful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495934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3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Submit</a:t>
                      </a:r>
                      <a:r>
                        <a:rPr dirty="0" sz="145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Empty</a:t>
                      </a:r>
                      <a:r>
                        <a:rPr dirty="0" sz="1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Prompt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Show</a:t>
                      </a:r>
                      <a:r>
                        <a:rPr dirty="0" sz="145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Message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Shown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496570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4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Submit</a:t>
                      </a:r>
                      <a:r>
                        <a:rPr dirty="0" sz="1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Valid</a:t>
                      </a:r>
                      <a:r>
                        <a:rPr dirty="0" sz="14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Prompt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Generate</a:t>
                      </a:r>
                      <a:r>
                        <a:rPr dirty="0" sz="14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Email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Generated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495934"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5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Invalid</a:t>
                      </a:r>
                      <a:r>
                        <a:rPr dirty="0" sz="1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4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Prompt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Show</a:t>
                      </a:r>
                      <a:r>
                        <a:rPr dirty="0" sz="1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4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Message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Error</a:t>
                      </a:r>
                      <a:r>
                        <a:rPr dirty="0" sz="14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Shown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3E9"/>
                    </a:solidFill>
                  </a:tcPr>
                </a:tc>
              </a:tr>
              <a:tr h="8553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algn="ctr" marL="6350">
                        <a:lnSpc>
                          <a:spcPct val="100000"/>
                        </a:lnSpc>
                      </a:pPr>
                      <a:r>
                        <a:rPr dirty="0" sz="1450" spc="-50">
                          <a:latin typeface="Calibri"/>
                          <a:cs typeface="Calibri"/>
                        </a:rPr>
                        <a:t>6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939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Send</a:t>
                      </a:r>
                      <a:r>
                        <a:rPr dirty="0" sz="14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20">
                          <a:latin typeface="Calibri"/>
                          <a:cs typeface="Calibri"/>
                        </a:rPr>
                        <a:t>Email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Email</a:t>
                      </a:r>
                      <a:r>
                        <a:rPr dirty="0" sz="14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>
                          <a:latin typeface="Calibri"/>
                          <a:cs typeface="Calibri"/>
                        </a:rPr>
                        <a:t>Sent</a:t>
                      </a:r>
                      <a:r>
                        <a:rPr dirty="0" sz="145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Successfullly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>
                          <a:latin typeface="Calibri"/>
                          <a:cs typeface="Calibri"/>
                        </a:rPr>
                        <a:t>Sent</a:t>
                      </a:r>
                      <a:r>
                        <a:rPr dirty="0" sz="14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450" spc="-10">
                          <a:latin typeface="Calibri"/>
                          <a:cs typeface="Calibri"/>
                        </a:rPr>
                        <a:t>Successfully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450" spc="-20">
                          <a:latin typeface="Calibri"/>
                          <a:cs typeface="Calibri"/>
                        </a:rPr>
                        <a:t>Pass</a:t>
                      </a:r>
                      <a:endParaRPr sz="145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0923" rIns="0" bIns="0" rtlCol="0" vert="horz">
            <a:spAutoFit/>
          </a:bodyPr>
          <a:lstStyle/>
          <a:p>
            <a:pPr marL="413384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10.Snapshots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3797300" y="6275070"/>
            <a:ext cx="195643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i="1">
                <a:latin typeface="Times New Roman"/>
                <a:cs typeface="Times New Roman"/>
              </a:rPr>
              <a:t>Figure</a:t>
            </a:r>
            <a:r>
              <a:rPr dirty="0" sz="1450" spc="2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10</a:t>
            </a:r>
            <a:r>
              <a:rPr dirty="0" sz="1450" spc="8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:</a:t>
            </a:r>
            <a:r>
              <a:rPr dirty="0" sz="1450" spc="35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Sign</a:t>
            </a:r>
            <a:r>
              <a:rPr dirty="0" sz="1450" spc="2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Up</a:t>
            </a:r>
            <a:r>
              <a:rPr dirty="0" sz="1450" spc="20" i="1">
                <a:latin typeface="Times New Roman"/>
                <a:cs typeface="Times New Roman"/>
              </a:rPr>
              <a:t> </a:t>
            </a:r>
            <a:r>
              <a:rPr dirty="0" sz="1450" spc="-20" i="1">
                <a:latin typeface="Times New Roman"/>
                <a:cs typeface="Times New Roman"/>
              </a:rPr>
              <a:t>Page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97326" y="2400045"/>
            <a:ext cx="3060700" cy="36973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6800"/>
            <a:ext cx="10055351" cy="5649468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807967" y="5831204"/>
            <a:ext cx="194754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i="1">
                <a:latin typeface="Times New Roman"/>
                <a:cs typeface="Times New Roman"/>
              </a:rPr>
              <a:t>Figure</a:t>
            </a:r>
            <a:r>
              <a:rPr dirty="0" sz="1450" spc="45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10.1</a:t>
            </a:r>
            <a:r>
              <a:rPr dirty="0" sz="1450" spc="10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:</a:t>
            </a:r>
            <a:r>
              <a:rPr dirty="0" sz="1450" spc="75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Home</a:t>
            </a:r>
            <a:r>
              <a:rPr dirty="0" sz="1450" spc="55" i="1">
                <a:latin typeface="Times New Roman"/>
                <a:cs typeface="Times New Roman"/>
              </a:rPr>
              <a:t> </a:t>
            </a:r>
            <a:r>
              <a:rPr dirty="0" sz="1450" spc="-20" i="1">
                <a:latin typeface="Times New Roman"/>
                <a:cs typeface="Times New Roman"/>
              </a:rPr>
              <a:t>Page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" y="1600200"/>
            <a:ext cx="8763000" cy="40921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641852" y="6092190"/>
            <a:ext cx="194691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i="1">
                <a:latin typeface="Times New Roman"/>
                <a:cs typeface="Times New Roman"/>
              </a:rPr>
              <a:t>Figure</a:t>
            </a:r>
            <a:r>
              <a:rPr dirty="0" sz="1450" spc="65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10.2</a:t>
            </a:r>
            <a:r>
              <a:rPr dirty="0" sz="1450" spc="12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:</a:t>
            </a:r>
            <a:r>
              <a:rPr dirty="0" sz="1450" spc="8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Work</a:t>
            </a:r>
            <a:r>
              <a:rPr dirty="0" sz="1450" spc="135" i="1">
                <a:latin typeface="Times New Roman"/>
                <a:cs typeface="Times New Roman"/>
              </a:rPr>
              <a:t> </a:t>
            </a:r>
            <a:r>
              <a:rPr dirty="0" sz="1450" spc="-20" i="1">
                <a:latin typeface="Times New Roman"/>
                <a:cs typeface="Times New Roman"/>
              </a:rPr>
              <a:t>Flow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776" y="1752600"/>
            <a:ext cx="9067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797300" y="6083046"/>
            <a:ext cx="157988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i="1">
                <a:latin typeface="Times New Roman"/>
                <a:cs typeface="Times New Roman"/>
              </a:rPr>
              <a:t>Figure</a:t>
            </a:r>
            <a:r>
              <a:rPr dirty="0" sz="1450" spc="3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10.3</a:t>
            </a:r>
            <a:r>
              <a:rPr dirty="0" sz="1450" spc="50" i="1">
                <a:latin typeface="Times New Roman"/>
                <a:cs typeface="Times New Roman"/>
              </a:rPr>
              <a:t> </a:t>
            </a:r>
            <a:r>
              <a:rPr dirty="0" sz="1450" i="1">
                <a:latin typeface="Times New Roman"/>
                <a:cs typeface="Times New Roman"/>
              </a:rPr>
              <a:t>:</a:t>
            </a:r>
            <a:r>
              <a:rPr dirty="0" sz="1450" spc="70" i="1">
                <a:latin typeface="Times New Roman"/>
                <a:cs typeface="Times New Roman"/>
              </a:rPr>
              <a:t> </a:t>
            </a:r>
            <a:r>
              <a:rPr dirty="0" sz="1450" spc="-10" i="1">
                <a:latin typeface="Times New Roman"/>
                <a:cs typeface="Times New Roman"/>
              </a:rPr>
              <a:t>Output</a:t>
            </a:r>
            <a:endParaRPr sz="145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1876" y="1917064"/>
            <a:ext cx="8991600" cy="39382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10055351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157" rIns="0" bIns="0" rtlCol="0" vert="horz">
            <a:spAutoFit/>
          </a:bodyPr>
          <a:lstStyle/>
          <a:p>
            <a:pPr marL="326390">
              <a:lnSpc>
                <a:spcPct val="100000"/>
              </a:lnSpc>
              <a:spcBef>
                <a:spcPts val="100"/>
              </a:spcBef>
            </a:pPr>
            <a:r>
              <a:rPr dirty="0"/>
              <a:t>11.</a:t>
            </a:r>
            <a:r>
              <a:rPr dirty="0" spc="-200"/>
              <a:t> </a:t>
            </a:r>
            <a:r>
              <a:rPr dirty="0" spc="-10"/>
              <a:t>Conclusion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20623" y="2825876"/>
            <a:ext cx="8397240" cy="2769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successfully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entire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sending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personalized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emails.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AI,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template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management,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bulk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delivery,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effort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efficiency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outreach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tasks.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ensures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consistency,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professional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quality,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accuracy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in </a:t>
            </a:r>
            <a:r>
              <a:rPr dirty="0" sz="2000">
                <a:latin typeface="Times New Roman"/>
                <a:cs typeface="Times New Roman"/>
              </a:rPr>
              <a:t>every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generated.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Features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validation,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automated </a:t>
            </a:r>
            <a:r>
              <a:rPr dirty="0" sz="2000">
                <a:latin typeface="Times New Roman"/>
                <a:cs typeface="Times New Roman"/>
              </a:rPr>
              <a:t>personalization,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activity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tracking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help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enhance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productivity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errors. </a:t>
            </a:r>
            <a:r>
              <a:rPr dirty="0" sz="2000">
                <a:latin typeface="Times New Roman"/>
                <a:cs typeface="Times New Roman"/>
              </a:rPr>
              <a:t>Overall,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Cold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Email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Agent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fast,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reliable,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user-friendly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solution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individuals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organizations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looking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streamline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communication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engagement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recipients.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4" y="1057655"/>
            <a:ext cx="10037064" cy="56586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215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12.References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80365" indent="-356870">
              <a:lnSpc>
                <a:spcPct val="100000"/>
              </a:lnSpc>
              <a:spcBef>
                <a:spcPts val="105"/>
              </a:spcBef>
              <a:buAutoNum type="arabicPlain"/>
              <a:tabLst>
                <a:tab pos="380365" algn="l"/>
              </a:tabLst>
            </a:pPr>
            <a:r>
              <a:rPr dirty="0"/>
              <a:t>T.</a:t>
            </a:r>
            <a:r>
              <a:rPr dirty="0" spc="-5"/>
              <a:t> </a:t>
            </a:r>
            <a:r>
              <a:rPr dirty="0"/>
              <a:t>Brown,</a:t>
            </a:r>
            <a:r>
              <a:rPr dirty="0" spc="-30"/>
              <a:t> </a:t>
            </a:r>
            <a:r>
              <a:rPr dirty="0"/>
              <a:t>B. Mann,</a:t>
            </a:r>
            <a:r>
              <a:rPr dirty="0" spc="-15"/>
              <a:t> </a:t>
            </a:r>
            <a:r>
              <a:rPr dirty="0"/>
              <a:t>N.</a:t>
            </a:r>
            <a:r>
              <a:rPr dirty="0" spc="-10"/>
              <a:t> </a:t>
            </a:r>
            <a:r>
              <a:rPr dirty="0"/>
              <a:t>Ryder</a:t>
            </a:r>
            <a:r>
              <a:rPr dirty="0" spc="-5"/>
              <a:t> </a:t>
            </a:r>
            <a:r>
              <a:rPr dirty="0"/>
              <a:t>et</a:t>
            </a:r>
            <a:r>
              <a:rPr dirty="0" spc="-5"/>
              <a:t> </a:t>
            </a:r>
            <a:r>
              <a:rPr dirty="0"/>
              <a:t>al.,</a:t>
            </a:r>
            <a:r>
              <a:rPr dirty="0" spc="-20"/>
              <a:t> </a:t>
            </a:r>
            <a:r>
              <a:rPr dirty="0"/>
              <a:t>“Language</a:t>
            </a:r>
            <a:r>
              <a:rPr dirty="0" spc="-40"/>
              <a:t> </a:t>
            </a:r>
            <a:r>
              <a:rPr dirty="0"/>
              <a:t>Models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10"/>
              <a:t> </a:t>
            </a:r>
            <a:r>
              <a:rPr dirty="0"/>
              <a:t>Few-Shot</a:t>
            </a:r>
            <a:r>
              <a:rPr dirty="0" spc="-45"/>
              <a:t> </a:t>
            </a:r>
            <a:r>
              <a:rPr dirty="0" spc="-10"/>
              <a:t>Learners,”</a:t>
            </a:r>
          </a:p>
          <a:p>
            <a:pPr marL="23495">
              <a:lnSpc>
                <a:spcPct val="100000"/>
              </a:lnSpc>
            </a:pPr>
            <a:r>
              <a:rPr dirty="0" i="1">
                <a:latin typeface="Times New Roman"/>
                <a:cs typeface="Times New Roman"/>
              </a:rPr>
              <a:t>Advances</a:t>
            </a:r>
            <a:r>
              <a:rPr dirty="0" spc="-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</a:t>
            </a:r>
            <a:r>
              <a:rPr dirty="0" spc="-2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Neural</a:t>
            </a:r>
            <a:r>
              <a:rPr dirty="0" spc="-2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Information</a:t>
            </a:r>
            <a:r>
              <a:rPr dirty="0" spc="-45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Processing</a:t>
            </a:r>
            <a:r>
              <a:rPr dirty="0" spc="-4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Systems</a:t>
            </a:r>
            <a:r>
              <a:rPr dirty="0" spc="-3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(NeurIPS)</a:t>
            </a:r>
            <a:r>
              <a:rPr dirty="0"/>
              <a:t>,</a:t>
            </a:r>
            <a:r>
              <a:rPr dirty="0" spc="-25"/>
              <a:t> </a:t>
            </a:r>
            <a:r>
              <a:rPr dirty="0"/>
              <a:t>pp.</a:t>
            </a:r>
            <a:r>
              <a:rPr dirty="0" spc="-30"/>
              <a:t> </a:t>
            </a:r>
            <a:r>
              <a:rPr dirty="0"/>
              <a:t>1–15,</a:t>
            </a:r>
            <a:r>
              <a:rPr dirty="0" spc="-35"/>
              <a:t> </a:t>
            </a:r>
            <a:r>
              <a:rPr dirty="0" spc="-10"/>
              <a:t>2020.</a:t>
            </a:r>
          </a:p>
          <a:p>
            <a:pPr marL="10795">
              <a:lnSpc>
                <a:spcPct val="100000"/>
              </a:lnSpc>
              <a:spcBef>
                <a:spcPts val="95"/>
              </a:spcBef>
            </a:pPr>
          </a:p>
          <a:p>
            <a:pPr marL="380365" indent="-356870">
              <a:lnSpc>
                <a:spcPct val="100000"/>
              </a:lnSpc>
              <a:spcBef>
                <a:spcPts val="5"/>
              </a:spcBef>
              <a:buAutoNum type="arabicPlain" startAt="2"/>
              <a:tabLst>
                <a:tab pos="380365" algn="l"/>
              </a:tabLst>
            </a:pPr>
            <a:r>
              <a:rPr dirty="0"/>
              <a:t>OpenAI,</a:t>
            </a:r>
            <a:r>
              <a:rPr dirty="0" spc="-55"/>
              <a:t> </a:t>
            </a:r>
            <a:r>
              <a:rPr dirty="0"/>
              <a:t>“OpenAI</a:t>
            </a:r>
            <a:r>
              <a:rPr dirty="0" spc="-55"/>
              <a:t> </a:t>
            </a:r>
            <a:r>
              <a:rPr dirty="0"/>
              <a:t>API</a:t>
            </a:r>
            <a:r>
              <a:rPr dirty="0" spc="-25"/>
              <a:t> </a:t>
            </a:r>
            <a:r>
              <a:rPr dirty="0"/>
              <a:t>Documentation,”</a:t>
            </a:r>
            <a:r>
              <a:rPr dirty="0" spc="-45"/>
              <a:t> </a:t>
            </a:r>
            <a:r>
              <a:rPr dirty="0" i="1">
                <a:latin typeface="Times New Roman"/>
                <a:cs typeface="Times New Roman"/>
              </a:rPr>
              <a:t>Online</a:t>
            </a:r>
            <a:r>
              <a:rPr dirty="0"/>
              <a:t>,</a:t>
            </a:r>
            <a:r>
              <a:rPr dirty="0" spc="-45"/>
              <a:t> </a:t>
            </a:r>
            <a:r>
              <a:rPr dirty="0" spc="-10"/>
              <a:t>Available:</a:t>
            </a:r>
          </a:p>
          <a:p>
            <a:pPr marL="23495">
              <a:lnSpc>
                <a:spcPct val="100000"/>
              </a:lnSpc>
            </a:pPr>
            <a:r>
              <a:rPr dirty="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https://platform.openai.com/docs</a:t>
            </a:r>
            <a:r>
              <a:rPr dirty="0" spc="-10"/>
              <a:t>,</a:t>
            </a:r>
            <a:r>
              <a:rPr dirty="0" spc="114"/>
              <a:t> </a:t>
            </a:r>
            <a:r>
              <a:rPr dirty="0" spc="-10"/>
              <a:t>2023.</a:t>
            </a:r>
          </a:p>
          <a:p>
            <a:pPr marL="10795">
              <a:lnSpc>
                <a:spcPct val="100000"/>
              </a:lnSpc>
              <a:spcBef>
                <a:spcPts val="100"/>
              </a:spcBef>
            </a:pPr>
          </a:p>
          <a:p>
            <a:pPr marL="23495" marR="1026794" indent="356870">
              <a:lnSpc>
                <a:spcPct val="100000"/>
              </a:lnSpc>
              <a:buAutoNum type="arabicPlain" startAt="3"/>
              <a:tabLst>
                <a:tab pos="380365" algn="l"/>
              </a:tabLst>
            </a:pPr>
            <a:r>
              <a:rPr dirty="0"/>
              <a:t>Google</a:t>
            </a:r>
            <a:r>
              <a:rPr dirty="0" spc="-40"/>
              <a:t> </a:t>
            </a:r>
            <a:r>
              <a:rPr dirty="0"/>
              <a:t>Developers,</a:t>
            </a:r>
            <a:r>
              <a:rPr dirty="0" spc="-55"/>
              <a:t> </a:t>
            </a:r>
            <a:r>
              <a:rPr dirty="0"/>
              <a:t>“Gmail</a:t>
            </a:r>
            <a:r>
              <a:rPr dirty="0" spc="-10"/>
              <a:t> </a:t>
            </a:r>
            <a:r>
              <a:rPr dirty="0"/>
              <a:t>API:</a:t>
            </a:r>
            <a:r>
              <a:rPr dirty="0" spc="-35"/>
              <a:t> </a:t>
            </a:r>
            <a:r>
              <a:rPr dirty="0"/>
              <a:t>Sending</a:t>
            </a:r>
            <a:r>
              <a:rPr dirty="0" spc="-55"/>
              <a:t> </a:t>
            </a:r>
            <a:r>
              <a:rPr dirty="0"/>
              <a:t>Email,”</a:t>
            </a:r>
            <a:r>
              <a:rPr dirty="0" spc="15"/>
              <a:t> </a:t>
            </a:r>
            <a:r>
              <a:rPr dirty="0" i="1">
                <a:latin typeface="Times New Roman"/>
                <a:cs typeface="Times New Roman"/>
              </a:rPr>
              <a:t>Google</a:t>
            </a:r>
            <a:r>
              <a:rPr dirty="0" spc="-50" i="1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Workspace</a:t>
            </a:r>
            <a:r>
              <a:rPr dirty="0" spc="-45" i="1">
                <a:latin typeface="Times New Roman"/>
                <a:cs typeface="Times New Roman"/>
              </a:rPr>
              <a:t> </a:t>
            </a:r>
            <a:r>
              <a:rPr dirty="0" spc="-25" i="1">
                <a:latin typeface="Times New Roman"/>
                <a:cs typeface="Times New Roman"/>
              </a:rPr>
              <a:t>for </a:t>
            </a:r>
            <a:r>
              <a:rPr dirty="0" i="1">
                <a:latin typeface="Times New Roman"/>
                <a:cs typeface="Times New Roman"/>
              </a:rPr>
              <a:t>Developers</a:t>
            </a:r>
            <a:r>
              <a:rPr dirty="0"/>
              <a:t>,</a:t>
            </a:r>
            <a:r>
              <a:rPr dirty="0" spc="40"/>
              <a:t> </a:t>
            </a:r>
            <a:r>
              <a:rPr dirty="0"/>
              <a:t>Available:</a:t>
            </a:r>
            <a:r>
              <a:rPr dirty="0" spc="30"/>
              <a:t> </a:t>
            </a:r>
            <a:r>
              <a:rPr dirty="0" u="sng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https://developers.google.com/gmail/api</a:t>
            </a:r>
            <a:r>
              <a:rPr dirty="0" spc="-10"/>
              <a:t>,</a:t>
            </a:r>
            <a:r>
              <a:rPr dirty="0" spc="25"/>
              <a:t> </a:t>
            </a:r>
            <a:r>
              <a:rPr dirty="0" spc="-10"/>
              <a:t>2023.</a:t>
            </a:r>
          </a:p>
          <a:p>
            <a:pPr marL="10795">
              <a:lnSpc>
                <a:spcPct val="100000"/>
              </a:lnSpc>
              <a:spcBef>
                <a:spcPts val="100"/>
              </a:spcBef>
              <a:buFont typeface="Times New Roman"/>
              <a:buAutoNum type="arabicPlain" startAt="3"/>
            </a:pPr>
          </a:p>
          <a:p>
            <a:pPr marL="380365" indent="-356870">
              <a:lnSpc>
                <a:spcPct val="100000"/>
              </a:lnSpc>
              <a:buAutoNum type="arabicPlain" startAt="3"/>
              <a:tabLst>
                <a:tab pos="380365" algn="l"/>
              </a:tabLst>
            </a:pPr>
            <a:r>
              <a:rPr dirty="0"/>
              <a:t>Google</a:t>
            </a:r>
            <a:r>
              <a:rPr dirty="0" spc="-30"/>
              <a:t> </a:t>
            </a:r>
            <a:r>
              <a:rPr dirty="0"/>
              <a:t>Developers,</a:t>
            </a:r>
            <a:r>
              <a:rPr dirty="0" spc="-40"/>
              <a:t> </a:t>
            </a:r>
            <a:r>
              <a:rPr dirty="0"/>
              <a:t>“Google</a:t>
            </a:r>
            <a:r>
              <a:rPr dirty="0" spc="-25"/>
              <a:t> </a:t>
            </a:r>
            <a:r>
              <a:rPr dirty="0"/>
              <a:t>Sheets</a:t>
            </a:r>
            <a:r>
              <a:rPr dirty="0" spc="-20"/>
              <a:t> </a:t>
            </a:r>
            <a:r>
              <a:rPr dirty="0"/>
              <a:t>API</a:t>
            </a:r>
            <a:r>
              <a:rPr dirty="0" spc="-15"/>
              <a:t> </a:t>
            </a:r>
            <a:r>
              <a:rPr dirty="0"/>
              <a:t>Overview,”</a:t>
            </a:r>
            <a:r>
              <a:rPr dirty="0" spc="-10"/>
              <a:t> </a:t>
            </a:r>
            <a:r>
              <a:rPr dirty="0" i="1">
                <a:latin typeface="Times New Roman"/>
                <a:cs typeface="Times New Roman"/>
              </a:rPr>
              <a:t>Google</a:t>
            </a:r>
            <a:r>
              <a:rPr dirty="0" spc="-35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Developers</a:t>
            </a:r>
            <a:r>
              <a:rPr dirty="0" spc="-10"/>
              <a:t>,</a:t>
            </a:r>
          </a:p>
          <a:p>
            <a:pPr marL="23495">
              <a:lnSpc>
                <a:spcPct val="100000"/>
              </a:lnSpc>
              <a:spcBef>
                <a:spcPts val="5"/>
              </a:spcBef>
            </a:pPr>
            <a:r>
              <a:rPr dirty="0"/>
              <a:t>Available:</a:t>
            </a:r>
            <a:r>
              <a:rPr dirty="0" spc="80"/>
              <a:t> </a:t>
            </a:r>
            <a:r>
              <a:rPr dirty="0" spc="-10"/>
              <a:t>https://developers.google.com/sheets/api,</a:t>
            </a:r>
            <a:r>
              <a:rPr dirty="0" spc="75"/>
              <a:t> </a:t>
            </a:r>
            <a:r>
              <a:rPr dirty="0" spc="-10"/>
              <a:t>2023.</a:t>
            </a:r>
          </a:p>
          <a:p>
            <a:pPr marL="10795">
              <a:lnSpc>
                <a:spcPct val="100000"/>
              </a:lnSpc>
              <a:spcBef>
                <a:spcPts val="95"/>
              </a:spcBef>
            </a:pPr>
          </a:p>
          <a:p>
            <a:pPr marL="23495" marR="5080" indent="356870">
              <a:lnSpc>
                <a:spcPct val="100000"/>
              </a:lnSpc>
              <a:spcBef>
                <a:spcPts val="5"/>
              </a:spcBef>
              <a:buAutoNum type="arabicPlain" startAt="5"/>
              <a:tabLst>
                <a:tab pos="380365" algn="l"/>
              </a:tabLst>
            </a:pPr>
            <a:r>
              <a:rPr dirty="0"/>
              <a:t>M.</a:t>
            </a:r>
            <a:r>
              <a:rPr dirty="0" spc="-10"/>
              <a:t> </a:t>
            </a:r>
            <a:r>
              <a:rPr dirty="0"/>
              <a:t>Hirt,</a:t>
            </a:r>
            <a:r>
              <a:rPr dirty="0" spc="-30"/>
              <a:t> </a:t>
            </a:r>
            <a:r>
              <a:rPr dirty="0"/>
              <a:t>“Workflow</a:t>
            </a:r>
            <a:r>
              <a:rPr dirty="0" spc="-40"/>
              <a:t> </a:t>
            </a:r>
            <a:r>
              <a:rPr dirty="0"/>
              <a:t>Automation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20"/>
              <a:t> </a:t>
            </a:r>
            <a:r>
              <a:rPr dirty="0"/>
              <a:t>n8n:</a:t>
            </a:r>
            <a:r>
              <a:rPr dirty="0" spc="-45"/>
              <a:t> </a:t>
            </a:r>
            <a:r>
              <a:rPr dirty="0"/>
              <a:t>Concepts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Best</a:t>
            </a:r>
            <a:r>
              <a:rPr dirty="0" spc="-20"/>
              <a:t> </a:t>
            </a:r>
            <a:r>
              <a:rPr dirty="0"/>
              <a:t>Practices,”</a:t>
            </a:r>
            <a:r>
              <a:rPr dirty="0" spc="-10"/>
              <a:t> </a:t>
            </a:r>
            <a:r>
              <a:rPr dirty="0" i="1">
                <a:latin typeface="Times New Roman"/>
                <a:cs typeface="Times New Roman"/>
              </a:rPr>
              <a:t>n8n</a:t>
            </a:r>
            <a:r>
              <a:rPr dirty="0" spc="-40" i="1">
                <a:latin typeface="Times New Roman"/>
                <a:cs typeface="Times New Roman"/>
              </a:rPr>
              <a:t> </a:t>
            </a:r>
            <a:r>
              <a:rPr dirty="0" spc="-10" i="1">
                <a:latin typeface="Times New Roman"/>
                <a:cs typeface="Times New Roman"/>
              </a:rPr>
              <a:t>Blog</a:t>
            </a:r>
            <a:r>
              <a:rPr dirty="0" spc="-10"/>
              <a:t>, 2023.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7162" y="952500"/>
            <a:ext cx="9744075" cy="5334000"/>
            <a:chOff x="157162" y="952500"/>
            <a:chExt cx="9744075" cy="5334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952500"/>
              <a:ext cx="9744075" cy="5334000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4476" y="2118360"/>
              <a:ext cx="1753362" cy="161467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22876" y="3732276"/>
              <a:ext cx="3198114" cy="14241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Nagaraj Naik</dc:creator>
  <dc:title>Microsoft PowerPoint - Eventra Mini P</dc:title>
  <dcterms:created xsi:type="dcterms:W3CDTF">2025-12-09T08:39:16Z</dcterms:created>
  <dcterms:modified xsi:type="dcterms:W3CDTF">2025-12-09T08:39:16Z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2025-12-09T00:00:00Z</vt:filetime>
  </property>
  <property fmtid="{D5CDD505-2E9C-101B-9397-08002B2CF9AE}" pid="5" name="Producer">
    <vt:lpwstr>Microsoft® PowerPoint® 2021</vt:lpwstr>
  </property>
</Properties>
</file>